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17"/>
    <p:sldId id="259" r:id="rId5"/>
    <p:sldId id="264" r:id="rId15"/>
    <p:sldId id="265" r:id="rId16"/>
    <p:sldId id="267" r:id="rId18"/>
    <p:sldId id="260" r:id="rId6"/>
    <p:sldId id="261" r:id="rId7"/>
    <p:sldId id="268" r:id="rId19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4.xml"/><Relationship Id="rId18" Type="http://schemas.openxmlformats.org/officeDocument/2006/relationships/slide" Target="slides/slide8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60120"/>
            <a:ext cx="128016" cy="4297680"/>
          </a:xfrm>
          <a:prstGeom prst="rect">
            <a:avLst/>
          </a:prstGeom>
          <a:solidFill>
            <a:srgbClr val="16B4BB"/>
          </a:solidFill>
          <a:ln w="12700">
            <a:solidFill>
              <a:srgbClr val="16B4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" y="1005840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7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DEVELOPER PROFILE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847088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기술을 이해하고,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해결하는 개발자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1033272" y="4069080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7D8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  ·  프로젝트 경험  ·  SAP  ·  업무 태도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2416" y="61447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C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/ SPRING BOOT / DATABASE /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7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332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43584" y="9601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개발·운영 경험을 기반으로 정리한 핵심 기술 스택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D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EXPERIENCE  /  DEVELOPER PROFILE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49224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874520"/>
            <a:ext cx="54864" cy="338328"/>
          </a:xfrm>
          <a:prstGeom prst="rect">
            <a:avLst/>
          </a:prstGeom>
          <a:solidFill>
            <a:srgbClr val="1878C8"/>
          </a:solidFill>
          <a:ln w="12700">
            <a:solidFill>
              <a:srgbClr val="18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85623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432304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· Spring Boot · Spring Security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· MyBatis · REST API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0488" y="1600200"/>
            <a:ext cx="5340096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1874520"/>
            <a:ext cx="54864" cy="338328"/>
          </a:xfrm>
          <a:prstGeom prst="rect">
            <a:avLst/>
          </a:prstGeom>
          <a:solidFill>
            <a:srgbClr val="16B4BB"/>
          </a:solidFill>
          <a:ln w="12700">
            <a:solidFill>
              <a:srgbClr val="16B4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5623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/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83096" y="2432304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Oracle · Redis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튜닝 · 인덱스 · ETL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5340096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3977640"/>
            <a:ext cx="54864" cy="338328"/>
          </a:xfrm>
          <a:prstGeom prst="rect">
            <a:avLst/>
          </a:prstGeom>
          <a:solidFill>
            <a:srgbClr val="16B4BB"/>
          </a:solidFill>
          <a:ln w="12700">
            <a:solidFill>
              <a:srgbClr val="16B4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95935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/ Visualization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976" y="4535424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 · React · Ajax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ECharts · Thymeleaf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90488" y="3703320"/>
            <a:ext cx="5340096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9944" y="3977640"/>
            <a:ext cx="54864" cy="338328"/>
          </a:xfrm>
          <a:prstGeom prst="rect">
            <a:avLst/>
          </a:prstGeom>
          <a:solidFill>
            <a:srgbClr val="1878C8"/>
          </a:solidFill>
          <a:ln w="12700">
            <a:solidFill>
              <a:srgbClr val="187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95935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/ Monitoring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83096" y="4535424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· OpenShift · Git · Jenkins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 · Grafana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C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27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C305B"/>
                </a:solidFill>
                <a:latin typeface="Malgun Gothic"/>
              </a:defRPr>
            </a:pPr>
            <a:r>
              <a:t>02   기술 활용 경험 ①  |  API 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68680"/>
            <a:ext cx="1127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D5C6F"/>
                </a:solidFill>
                <a:latin typeface="Malgun Gothic"/>
              </a:defRPr>
            </a:pPr>
            <a:r>
              <a:t>외부 API 연계 · 인증 및 접근 제어 · 사용자 화면 구현 · 운영 안정화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11277600" cy="1901952"/>
          </a:xfrm>
          <a:prstGeom prst="roundRect">
            <a:avLst/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18488"/>
            <a:ext cx="2492502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37360"/>
            <a:ext cx="23461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964AA"/>
                </a:solidFill>
                <a:latin typeface="Malgun Gothic"/>
              </a:defRPr>
            </a:pPr>
            <a:r>
              <a:t>API Proxy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93976"/>
            <a:ext cx="24193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4D5C6F"/>
                </a:solidFill>
                <a:latin typeface="Malgun Gothic"/>
              </a:defRPr>
            </a:pPr>
            <a:r>
              <a:t>인증 · 로드 밸런싱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5733" y="186537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964AA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6902" y="1618488"/>
            <a:ext cx="2492502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0054" y="1737360"/>
            <a:ext cx="23461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964AA"/>
                </a:solidFill>
                <a:latin typeface="Malgun Gothic"/>
              </a:defRPr>
            </a:pPr>
            <a: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3478" y="2093976"/>
            <a:ext cx="24193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4D5C6F"/>
                </a:solidFill>
                <a:latin typeface="Malgun Gothic"/>
              </a:defRPr>
            </a:pPr>
            <a:r>
              <a:t>API 인증 · 접근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9404" y="186537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964AA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0572" y="1618488"/>
            <a:ext cx="2492502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3724" y="1737360"/>
            <a:ext cx="23461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964AA"/>
                </a:solidFill>
                <a:latin typeface="Malgun Gothic"/>
              </a:defRPr>
            </a:pPr>
            <a:r>
              <a:t>API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7148" y="2093976"/>
            <a:ext cx="24193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4D5C6F"/>
                </a:solidFill>
                <a:latin typeface="Malgun Gothic"/>
              </a:defRPr>
            </a:pPr>
            <a:r>
              <a:t>HTTP 연계 · JSON 파싱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3074" y="186537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964AA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4242" y="1618488"/>
            <a:ext cx="2492502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7394" y="1737360"/>
            <a:ext cx="23461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964AA"/>
                </a:solidFill>
                <a:latin typeface="Malgun Gothic"/>
              </a:defRPr>
            </a:pPr>
            <a:r>
              <a:t>API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0817" y="2093976"/>
            <a:ext cx="24193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4D5C6F"/>
                </a:solidFill>
                <a:latin typeface="Malgun Gothic"/>
              </a:defRPr>
            </a:pPr>
            <a:r>
              <a:t>화면 UI · 시각화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660904"/>
            <a:ext cx="1063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C305B"/>
                </a:solidFill>
                <a:latin typeface="Malgun Gothic"/>
              </a:defRPr>
            </a:pPr>
            <a:r>
              <a:t>API Config  |  YAML 기반 환경별 설정 · 모듈 연동 관리 · MSA 형태의 분리형 구성 경험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65576"/>
            <a:ext cx="1109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C305B"/>
                </a:solidFill>
                <a:latin typeface="Malgun Gothic"/>
              </a:defRPr>
            </a:pPr>
            <a:r>
              <a:t>주요 기능 개발 및 문제 해결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39"/>
            <a:ext cx="5410200" cy="667512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059935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964AA"/>
                </a:solidFill>
                <a:latin typeface="Malgun Gothic"/>
              </a:defRPr>
            </a:pPr>
            <a:r>
              <a:t>대용량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4050791"/>
            <a:ext cx="3992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D5C6F"/>
                </a:solidFill>
                <a:latin typeface="Malgun Gothic"/>
              </a:defRPr>
            </a:pPr>
            <a:r>
              <a:t>Streaming 개념을 활용한 대용량 데이터 처리 및 OOM 문제 개선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0" y="3977639"/>
            <a:ext cx="5410200" cy="667512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4872" y="4059935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964AA"/>
                </a:solidFill>
                <a:latin typeface="Malgun Gothic"/>
              </a:defRPr>
            </a:pPr>
            <a:r>
              <a:t>인증 · 보안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4447" y="4050791"/>
            <a:ext cx="3992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D5C6F"/>
                </a:solidFill>
                <a:latin typeface="Malgun Gothic"/>
              </a:defRPr>
            </a:pPr>
            <a:r>
              <a:t>Spring Security 기반 세션 권한 관리, AES 암호화 및 개인정보 마스킹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73168"/>
            <a:ext cx="5410200" cy="667512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4855464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964AA"/>
                </a:solidFill>
                <a:latin typeface="Malgun Gothic"/>
              </a:defRPr>
            </a:pPr>
            <a:r>
              <a:t>데이터 · 성능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4846320"/>
            <a:ext cx="3992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D5C6F"/>
                </a:solidFill>
                <a:latin typeface="Malgun Gothic"/>
              </a:defRPr>
            </a:pPr>
            <a:r>
              <a:t>Redis 캐시 서버 연동 및 SQL 튜닝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0" y="4773168"/>
            <a:ext cx="5410200" cy="667512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4872" y="4855464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964AA"/>
                </a:solidFill>
                <a:latin typeface="Malgun Gothic"/>
              </a:defRPr>
            </a:pPr>
            <a:r>
              <a:t>API 연계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4447" y="4846320"/>
            <a:ext cx="3992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D5C6F"/>
                </a:solidFill>
                <a:latin typeface="Malgun Gothic"/>
              </a:defRPr>
            </a:pPr>
            <a:r>
              <a:t>HTTP·WebSocket 기반 API 연계, JSON 응답 파싱 및 UI 데이터 제공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199632"/>
            <a:ext cx="11094720" cy="384048"/>
          </a:xfrm>
          <a:prstGeom prst="roundRect">
            <a:avLst/>
          </a:prstGeom>
          <a:solidFill>
            <a:srgbClr val="0C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6263640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경험  |  API 요청부터 인증·가공·화면 제공까지 전체 연계 흐름 이해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high_resolution_infographic_slide_in_ko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0C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92608"/>
            <a:ext cx="10058400" cy="38404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2300" b="1">
                <a:solidFill>
                  <a:srgbClr val="0C315B"/>
                </a:solidFill>
                <a:latin typeface="Malgun Gothic"/>
              </a:defRPr>
            </a:pPr>
            <a:r>
              <a:t>03   SQream · GPU 실시간 모니터링  |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000" b="0">
                <a:solidFill>
                  <a:srgbClr val="6B7E91"/>
                </a:solidFill>
                <a:latin typeface="Malgun Gothic"/>
              </a:defRPr>
            </a:pPr>
            <a:r>
              <a:t>첨부 React 프로젝트의 Overview 구성 기반 재현  ·  수치는 발표용 예시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70432"/>
            <a:ext cx="11423904" cy="5349240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335024"/>
            <a:ext cx="1417320" cy="4983480"/>
          </a:xfrm>
          <a:prstGeom prst="roundRect">
            <a:avLst/>
          </a:prstGeom>
          <a:solidFill>
            <a:srgbClr val="0C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18488"/>
            <a:ext cx="109728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185416"/>
            <a:ext cx="109728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AFC5DC"/>
                </a:solidFill>
                <a:latin typeface="Malgun Gothic"/>
              </a:defRPr>
            </a:pPr>
            <a:r>
              <a:t>Workers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752344"/>
            <a:ext cx="109728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AFC5DC"/>
                </a:solidFill>
                <a:latin typeface="Malgun Gothic"/>
              </a:defRPr>
            </a:pPr>
            <a:r>
              <a:t>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319272"/>
            <a:ext cx="109728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AFC5DC"/>
                </a:solidFill>
                <a:latin typeface="Malgun Gothic"/>
              </a:defRPr>
            </a:pPr>
            <a:r>
              <a:t>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886200"/>
            <a:ext cx="109728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AFC5DC"/>
                </a:solidFill>
                <a:latin typeface="Malgun Gothic"/>
              </a:defRPr>
            </a:pPr>
            <a:r>
              <a:t>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4453128"/>
            <a:ext cx="109728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AFC5DC"/>
                </a:solidFill>
                <a:latin typeface="Malgun Gothic"/>
              </a:defRPr>
            </a:pPr>
            <a:r>
              <a:t>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1344168"/>
            <a:ext cx="9403080" cy="484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5144" y="1444752"/>
            <a:ext cx="912876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1">
                <a:solidFill>
                  <a:srgbClr val="233549"/>
                </a:solidFill>
                <a:latin typeface="Malgun Gothic"/>
              </a:defRPr>
            </a:pPr>
            <a:r>
              <a:t>Node   All  ▾      GPU   All  ▾      Worker   All  ▾                  Last 30 minutes   ·   Auto refresh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1984248"/>
            <a:ext cx="1725168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8568" y="2093976"/>
            <a:ext cx="1642872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900" b="0">
                <a:solidFill>
                  <a:srgbClr val="6B7E91"/>
                </a:solidFill>
                <a:latin typeface="Malgun Gothic"/>
              </a:defRPr>
            </a:pPr>
            <a:r>
              <a:t>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2295144"/>
            <a:ext cx="1624584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2000" b="1">
                <a:solidFill>
                  <a:srgbClr val="1D6FBD"/>
                </a:solidFill>
                <a:latin typeface="Malgun Gothic"/>
              </a:defRPr>
            </a:pPr>
            <a:r>
              <a:t>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6304" y="1984248"/>
            <a:ext cx="1725168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6032" y="2093976"/>
            <a:ext cx="1642872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900" b="0">
                <a:solidFill>
                  <a:srgbClr val="6B7E91"/>
                </a:solidFill>
                <a:latin typeface="Malgun Gothic"/>
              </a:defRPr>
            </a:pPr>
            <a:r>
              <a:t>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6032" y="2295144"/>
            <a:ext cx="1624584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2000" b="1">
                <a:solidFill>
                  <a:srgbClr val="1D6FBD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3768" y="1984248"/>
            <a:ext cx="1725168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3496" y="2093976"/>
            <a:ext cx="1642872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900" b="0">
                <a:solidFill>
                  <a:srgbClr val="6B7E91"/>
                </a:solidFill>
                <a:latin typeface="Malgun Gothic"/>
              </a:defRPr>
            </a:pPr>
            <a:r>
              <a:t>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3496" y="2295144"/>
            <a:ext cx="1624584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2000" b="1">
                <a:solidFill>
                  <a:srgbClr val="1D6FBD"/>
                </a:solidFill>
                <a:latin typeface="Malgun Gothic"/>
              </a:defRPr>
            </a:pPr>
            <a:r>
              <a:t>1,284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71232" y="1984248"/>
            <a:ext cx="1725168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093976"/>
            <a:ext cx="1642872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900" b="0">
                <a:solidFill>
                  <a:srgbClr val="6B7E91"/>
                </a:solidFill>
                <a:latin typeface="Malgun Gothic"/>
              </a:defRPr>
            </a:pPr>
            <a:r>
              <a:t>FAILED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295144"/>
            <a:ext cx="1624584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2000" b="1">
                <a:solidFill>
                  <a:srgbClr val="1D6FBD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8696" y="1984248"/>
            <a:ext cx="1725168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88424" y="2093976"/>
            <a:ext cx="1642872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900" b="0">
                <a:solidFill>
                  <a:srgbClr val="6B7E91"/>
                </a:solidFill>
                <a:latin typeface="Malgun Gothic"/>
              </a:defRPr>
            </a:pPr>
            <a:r>
              <a:t>INITIALIZING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8424" y="2295144"/>
            <a:ext cx="1624584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2000" b="1">
                <a:solidFill>
                  <a:srgbClr val="1D6FBD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2816352"/>
            <a:ext cx="4591812" cy="1307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95144" y="2898648"/>
            <a:ext cx="4408932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1">
                <a:solidFill>
                  <a:srgbClr val="233549"/>
                </a:solidFill>
                <a:latin typeface="Malgun Gothic"/>
              </a:defRPr>
            </a:pPr>
            <a:r>
              <a:t>GPU Engine Active (%)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404872" y="3772706"/>
            <a:ext cx="370886" cy="92875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75758" y="3772706"/>
            <a:ext cx="370886" cy="39804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146644" y="3613493"/>
            <a:ext cx="370886" cy="199017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517530" y="3560422"/>
            <a:ext cx="370886" cy="53071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88416" y="3560422"/>
            <a:ext cx="370886" cy="92874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59302" y="3454280"/>
            <a:ext cx="370887" cy="199016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630189" y="3401209"/>
            <a:ext cx="370886" cy="53071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01075" y="3401209"/>
            <a:ext cx="370886" cy="119410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71961" y="3361406"/>
            <a:ext cx="370886" cy="159213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42847" y="3361406"/>
            <a:ext cx="370886" cy="66338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113733" y="3321602"/>
            <a:ext cx="370887" cy="106142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850380" y="2816352"/>
            <a:ext cx="4591812" cy="1307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6684" y="2898648"/>
            <a:ext cx="4408932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1">
                <a:solidFill>
                  <a:srgbClr val="233549"/>
                </a:solidFill>
                <a:latin typeface="Malgun Gothic"/>
              </a:defRPr>
            </a:pPr>
            <a:r>
              <a:t>Memory Usage (GB)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7106412" y="3725981"/>
            <a:ext cx="370886" cy="58839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477298" y="3696561"/>
            <a:ext cx="370886" cy="29420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848184" y="3667141"/>
            <a:ext cx="370886" cy="29420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219070" y="3608301"/>
            <a:ext cx="370886" cy="58840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589956" y="3608301"/>
            <a:ext cx="370886" cy="29420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960842" y="3549462"/>
            <a:ext cx="370887" cy="88259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331729" y="3490622"/>
            <a:ext cx="370886" cy="58840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702615" y="3490622"/>
            <a:ext cx="370886" cy="29420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073501" y="3461202"/>
            <a:ext cx="370886" cy="58840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444387" y="3431782"/>
            <a:ext cx="370886" cy="29420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815273" y="3402363"/>
            <a:ext cx="370887" cy="29419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2148840" y="4242816"/>
            <a:ext cx="4591812" cy="1307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95144" y="4325112"/>
            <a:ext cx="4408932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1">
                <a:solidFill>
                  <a:srgbClr val="233549"/>
                </a:solidFill>
                <a:latin typeface="Malgun Gothic"/>
              </a:defRPr>
            </a:pPr>
            <a:r>
              <a:t>Temperature (°C)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2404872" y="5165053"/>
            <a:ext cx="370886" cy="32222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75758" y="5100610"/>
            <a:ext cx="370886" cy="64443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146644" y="5036166"/>
            <a:ext cx="370886" cy="64444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517530" y="5036166"/>
            <a:ext cx="370886" cy="32222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88416" y="4971723"/>
            <a:ext cx="370886" cy="96665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259302" y="4939501"/>
            <a:ext cx="370887" cy="32222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630189" y="4939501"/>
            <a:ext cx="370886" cy="64444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001075" y="4907280"/>
            <a:ext cx="370886" cy="96665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371961" y="4875058"/>
            <a:ext cx="370886" cy="32222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42847" y="4875058"/>
            <a:ext cx="370886" cy="32222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113733" y="4842836"/>
            <a:ext cx="370887" cy="64444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6850380" y="4242816"/>
            <a:ext cx="4591812" cy="1307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96684" y="4325112"/>
            <a:ext cx="4408932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1">
                <a:solidFill>
                  <a:srgbClr val="233549"/>
                </a:solidFill>
                <a:latin typeface="Malgun Gothic"/>
              </a:defRPr>
            </a:pPr>
            <a:r>
              <a:t>Power Usage (W)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7106412" y="5216369"/>
            <a:ext cx="370886" cy="100246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477298" y="5107770"/>
            <a:ext cx="370886" cy="108599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848184" y="5107770"/>
            <a:ext cx="370886" cy="50123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219070" y="5015879"/>
            <a:ext cx="370886" cy="142014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589956" y="4898926"/>
            <a:ext cx="370886" cy="116953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960842" y="4898926"/>
            <a:ext cx="370887" cy="50122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331729" y="4832096"/>
            <a:ext cx="370886" cy="116952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702615" y="4798680"/>
            <a:ext cx="370886" cy="33416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073501" y="4798680"/>
            <a:ext cx="370886" cy="58477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444387" y="4723496"/>
            <a:ext cx="370886" cy="133661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815273" y="4723496"/>
            <a:ext cx="370887" cy="33416"/>
          </a:xfrm>
          <a:prstGeom prst="line">
            <a:avLst/>
          </a:prstGeom>
          <a:ln w="25400"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148840" y="5788152"/>
            <a:ext cx="94030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000" b="0">
                <a:solidFill>
                  <a:srgbClr val="6B7E91"/>
                </a:solidFill>
                <a:latin typeface="Malgun Gothic"/>
              </a:defRPr>
            </a:pPr>
            <a:r>
              <a:t>Node: sqream01 / sqream02 / sqream03     ·     GPU 0 / 1     ·     Worker: gi_id 기준</a:t>
            </a:r>
          </a:p>
        </p:txBody>
      </p:sp>
      <p:pic>
        <p:nvPicPr>
          <p:cNvPr id="84" name="Picture 83" descr="sqream_overview_sample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11384280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0C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38328"/>
            <a:ext cx="112776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2400" b="1">
                <a:solidFill>
                  <a:srgbClr val="0C315B"/>
                </a:solidFill>
                <a:latin typeface="Malgun Gothic"/>
              </a:defRPr>
            </a:pPr>
            <a:r>
              <a:t>DB 성능 개선  |  검색 조건 기반 단일·복합 인덱스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68680"/>
            <a:ext cx="11277600" cy="3200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0">
                <a:solidFill>
                  <a:srgbClr val="6B7E91"/>
                </a:solidFill>
                <a:latin typeface="Malgun Gothic"/>
              </a:defRPr>
            </a:pPr>
            <a:r>
              <a:t>실제 DDL 기준 · WHERE 필터 조건과 JOIN 키, 기간 조회 패턴을 분석해 B-tree 인덱스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508760"/>
            <a:ext cx="55016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664207"/>
            <a:ext cx="5135880" cy="3200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1D6FBD"/>
                </a:solidFill>
                <a:latin typeface="Malgun Gothic"/>
              </a:defRPr>
            </a:pPr>
            <a:r>
              <a:t>단일 인덱스 ①  ·  시간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75688"/>
            <a:ext cx="5135880" cy="1033271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>ax_metrics_sqream_worker_log
idx_sqream_log_collect_time (collect_time)
WHERE collect_time BETWEEN 시작·종료 시각</a:t>
            </a:r>
          </a:p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/>
            </a:r>
          </a:p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9444" y="1508760"/>
            <a:ext cx="55016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324" y="1664207"/>
            <a:ext cx="5135880" cy="3200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1D6FBD"/>
                </a:solidFill>
                <a:latin typeface="Malgun Gothic"/>
              </a:defRPr>
            </a:pPr>
            <a:r>
              <a:t>복합 인덱스 ①  ·  서버 + 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324" y="2075688"/>
            <a:ext cx="5135880" cy="1033271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>ax_metrics_node
idx_metrics_node_server_time
(server_id, collect_time DESC) · 서버별 최근 조회</a:t>
            </a:r>
          </a:p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/>
            </a:r>
          </a:p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3520440"/>
            <a:ext cx="55016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675888"/>
            <a:ext cx="5135880" cy="3200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1D6FBD"/>
                </a:solidFill>
                <a:latin typeface="Malgun Gothic"/>
              </a:defRPr>
            </a:pPr>
            <a:r>
              <a:t>단일 인덱스 ②  ·  JOIN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87368"/>
            <a:ext cx="5135880" cy="1033271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>ax_metrics_gpu_dcgmi_metric
idx_metrics_gpu_dcgmi_nvidia_smi_id
(nvidia_smi_id) · NVIDIA SMI 연계 JOIN</a:t>
            </a:r>
          </a:p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/>
            </a:r>
          </a:p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9444" y="3520440"/>
            <a:ext cx="55016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2324" y="3675888"/>
            <a:ext cx="5135880" cy="3200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1D6FBD"/>
                </a:solidFill>
                <a:latin typeface="Malgun Gothic"/>
              </a:defRPr>
            </a:pPr>
            <a:r>
              <a:t>복합 인덱스 ②  ·  서버 + DB +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2324" y="4087368"/>
            <a:ext cx="5135880" cy="1033271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>ax_metrics_sqream_worker_log
idx_sqream_log_server_db_collect
(server_id, database_name, collect_time)</a:t>
            </a:r>
          </a:p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/>
            </a:r>
          </a:p>
          <a:p>
            <a:pPr>
              <a:defRPr sz="1200" b="0">
                <a:solidFill>
                  <a:srgbClr val="233549"/>
                </a:solidFill>
                <a:latin typeface="Malgun Gothic"/>
              </a:defRPr>
            </a:pPr>
            <a: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733288"/>
            <a:ext cx="11277600" cy="38404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1">
                <a:solidFill>
                  <a:srgbClr val="0C315B"/>
                </a:solidFill>
                <a:latin typeface="Malgun Gothic"/>
              </a:defRPr>
            </a:pPr>
            <a:r>
              <a:t>설계 근거: 실제 검색 조건(WHERE/JOIN/기간) → 단일·복합 인덱스 선택 → EXPLAIN ANALYZE로 검증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0C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38328"/>
            <a:ext cx="112776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2400" b="1">
                <a:solidFill>
                  <a:srgbClr val="0C315B"/>
                </a:solidFill>
                <a:latin typeface="Malgun Gothic"/>
              </a:defRPr>
            </a:pPr>
            <a:r>
              <a:t>DB 성능 개선  |  월별 파티셔닝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68680"/>
            <a:ext cx="11277600" cy="3200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0">
                <a:solidFill>
                  <a:srgbClr val="6B7E91"/>
                </a:solidFill>
                <a:latin typeface="Malgun Gothic"/>
              </a:defRPr>
            </a:pPr>
            <a:r>
              <a:t>collect_time 기반 RANGE 파티셔닝 구조 예시  ·  첨부 DDL에는 파티션 생성문 미포함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840" cy="804672"/>
          </a:xfrm>
          <a:prstGeom prst="roundRect">
            <a:avLst/>
          </a:prstGeom>
          <a:solidFill>
            <a:srgbClr val="0C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10363200" cy="34747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t>ax_metrics_sqream_worker_log   (논리적 부모 테이블)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2590800" cy="868680"/>
          </a:xfrm>
          <a:prstGeom prst="roundRect">
            <a:avLst/>
          </a:prstGeom>
          <a:solidFill>
            <a:srgbClr val="DD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172968"/>
            <a:ext cx="2362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1">
                <a:solidFill>
                  <a:srgbClr val="0C315B"/>
                </a:solidFill>
                <a:latin typeface="Malgun Gothic"/>
              </a:defRPr>
            </a:pPr>
            <a:r>
              <a:t>p202607</a:t>
            </a:r>
          </a:p>
          <a:p>
            <a:pPr>
              <a:defRPr sz="1200" b="0">
                <a:solidFill>
                  <a:srgbClr val="0C315B"/>
                </a:solidFill>
                <a:latin typeface="Malgun Gothic"/>
              </a:defRPr>
            </a:pPr>
            <a:r>
              <a:t>월별 데이터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072640" y="2359152"/>
            <a:ext cx="4023360" cy="612648"/>
          </a:xfrm>
          <a:prstGeom prst="line">
            <a:avLst/>
          </a:prstGeom>
          <a:ln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48050" y="2971800"/>
            <a:ext cx="2590800" cy="868680"/>
          </a:xfrm>
          <a:prstGeom prst="roundRect">
            <a:avLst/>
          </a:prstGeom>
          <a:solidFill>
            <a:srgbClr val="DD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922" y="3172968"/>
            <a:ext cx="2362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1">
                <a:solidFill>
                  <a:srgbClr val="0C315B"/>
                </a:solidFill>
                <a:latin typeface="Malgun Gothic"/>
              </a:defRPr>
            </a:pPr>
            <a:r>
              <a:t>p202608</a:t>
            </a:r>
          </a:p>
          <a:p>
            <a:pPr>
              <a:defRPr sz="1200" b="0">
                <a:solidFill>
                  <a:srgbClr val="0C315B"/>
                </a:solidFill>
                <a:latin typeface="Malgun Gothic"/>
              </a:defRPr>
            </a:pPr>
            <a:r>
              <a:t>월별 데이터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743450" y="2359152"/>
            <a:ext cx="1352550" cy="612648"/>
          </a:xfrm>
          <a:prstGeom prst="line">
            <a:avLst/>
          </a:prstGeom>
          <a:ln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18860" y="2971800"/>
            <a:ext cx="2590800" cy="868680"/>
          </a:xfrm>
          <a:prstGeom prst="roundRect">
            <a:avLst/>
          </a:prstGeom>
          <a:solidFill>
            <a:srgbClr val="DD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7732" y="3172968"/>
            <a:ext cx="2362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1">
                <a:solidFill>
                  <a:srgbClr val="0C315B"/>
                </a:solidFill>
                <a:latin typeface="Malgun Gothic"/>
              </a:defRPr>
            </a:pPr>
            <a:r>
              <a:t>p202609</a:t>
            </a:r>
          </a:p>
          <a:p>
            <a:pPr>
              <a:defRPr sz="1200" b="0">
                <a:solidFill>
                  <a:srgbClr val="0C315B"/>
                </a:solidFill>
                <a:latin typeface="Malgun Gothic"/>
              </a:defRPr>
            </a:pPr>
            <a:r>
              <a:t>월별 데이터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359152"/>
            <a:ext cx="1318259" cy="612648"/>
          </a:xfrm>
          <a:prstGeom prst="line">
            <a:avLst/>
          </a:prstGeom>
          <a:ln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89669" y="2971800"/>
            <a:ext cx="2590800" cy="868680"/>
          </a:xfrm>
          <a:prstGeom prst="roundRect">
            <a:avLst/>
          </a:prstGeom>
          <a:solidFill>
            <a:srgbClr val="DD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8542" y="3172968"/>
            <a:ext cx="2362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1">
                <a:solidFill>
                  <a:srgbClr val="0C315B"/>
                </a:solidFill>
                <a:latin typeface="Malgun Gothic"/>
              </a:defRPr>
            </a:pPr>
            <a:r>
              <a:t>p202610</a:t>
            </a:r>
          </a:p>
          <a:p>
            <a:pPr>
              <a:defRPr sz="1200" b="0">
                <a:solidFill>
                  <a:srgbClr val="0C315B"/>
                </a:solidFill>
                <a:latin typeface="Malgun Gothic"/>
              </a:defRPr>
            </a:pPr>
            <a:r>
              <a:t>월별 데이터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2359152"/>
            <a:ext cx="3989069" cy="612648"/>
          </a:xfrm>
          <a:prstGeom prst="line">
            <a:avLst/>
          </a:prstGeom>
          <a:ln>
            <a:solidFill>
              <a:srgbClr val="1D6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4343400"/>
            <a:ext cx="10820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562856"/>
            <a:ext cx="10363200" cy="80467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400" b="0">
                <a:solidFill>
                  <a:srgbClr val="233549"/>
                </a:solidFill>
                <a:latin typeface="Malgun Gothic"/>
              </a:defRPr>
            </a:pPr>
            <a:r>
              <a:t>조회: WHERE collect_time &gt;= :start AND collect_time &lt; :end</a:t>
            </a:r>
          </a:p>
          <a:p>
            <a:pPr>
              <a:defRPr sz="1400" b="0">
                <a:solidFill>
                  <a:srgbClr val="233549"/>
                </a:solidFill>
                <a:latin typeface="Malgun Gothic"/>
              </a:defRPr>
            </a:pPr>
            <a:r>
              <a:t>기대 효과: 파티션 프루닝으로 대상 범위 축소 · 오래된 데이터 파티션 단위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806440"/>
            <a:ext cx="108204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000" b="0">
                <a:solidFill>
                  <a:srgbClr val="6B7E91"/>
                </a:solidFill>
                <a:latin typeface="Malgun Gothic"/>
              </a:defRPr>
            </a:pPr>
            <a:r>
              <a:t>※ 실제 적용 여부·개선 시간은 운영 DDL 및 EXPLAIN ANALYZE 측정으로 확인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infographic_slide_in_korean_about_db_인프라_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7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332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활용 경험 ③  데이터·인프라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43584" y="9601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정합성과 안정적인 서비스 운영을 고려한 실무 경험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D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EXPERIENCE  /  DEVELOPER PROFILE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49224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618488"/>
            <a:ext cx="5358384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" y="1892808"/>
            <a:ext cx="54864" cy="338328"/>
          </a:xfrm>
          <a:prstGeom prst="rect">
            <a:avLst/>
          </a:prstGeom>
          <a:solidFill>
            <a:srgbClr val="1878C8"/>
          </a:solidFill>
          <a:ln w="12700">
            <a:solidFill>
              <a:srgbClr val="18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874520"/>
            <a:ext cx="4764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/ 데이터 처리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8408" y="2450592"/>
            <a:ext cx="476402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600">
                <a:latin typeface="맑은 고딕"/>
              </a:rPr>
              <a:t>• Sybase → Oracle 데이터 이관 및 SQL 변환</a:t>
            </a:r>
          </a:p>
          <a:p>
            <a:r>
              <a:rPr sz="1600">
                <a:latin typeface="맑은 고딕"/>
              </a:rPr>
              <a:t>• JOIN·서브쿼리 수정, 데이터 정합성 검증</a:t>
            </a:r>
          </a:p>
          <a:p>
            <a:r>
              <a:rPr sz="1600">
                <a:latin typeface="맑은 고딕"/>
              </a:rPr>
              <a:t>• PostgreSQL 인덱스·파티션·조회 성능 검토</a:t>
            </a:r>
          </a:p>
          <a:p>
            <a:r>
              <a:rPr sz="1600">
                <a:latin typeface="맑은 고딕"/>
              </a:rPr>
              <a:t>• pgvector 확장 활용 Vector DB 구축</a:t>
            </a:r>
          </a:p>
        </p:txBody>
      </p:sp>
      <p:sp>
        <p:nvSpPr>
          <p:cNvPr id="13" name="Shape 11"/>
          <p:cNvSpPr/>
          <p:nvPr/>
        </p:nvSpPr>
        <p:spPr>
          <a:xfrm>
            <a:off x="6208776" y="1618488"/>
            <a:ext cx="5294376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1892808"/>
            <a:ext cx="54864" cy="338328"/>
          </a:xfrm>
          <a:prstGeom prst="rect">
            <a:avLst/>
          </a:prstGeom>
          <a:solidFill>
            <a:srgbClr val="16B4BB"/>
          </a:solidFill>
          <a:ln w="12700">
            <a:solidFill>
              <a:srgbClr val="16B4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87452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/ 협업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1384" y="2450592"/>
            <a:ext cx="47000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Linux 환경 서버 설정 및 운영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OpenShift 기반 시스템 구축 참여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Git 기반 형상관리 및 코드 병합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기술 문서·이슈 공유를 통한 협업</a:t>
            </a:r>
            <a:endParaRPr lang="en-US"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1143000" y="5212080"/>
            <a:ext cx="2286000" cy="594360"/>
          </a:xfrm>
          <a:prstGeom prst="roundRect">
            <a:avLst/>
          </a:prstGeom>
          <a:solidFill>
            <a:srgbClr val="F4F8FD"/>
          </a:solidFill>
          <a:ln>
            <a:solidFill>
              <a:srgbClr val="D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DC2D2D"/>
                </a:solidFill>
              </a:rPr>
              <a:t>ORACLE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5212080"/>
            <a:ext cx="2286000" cy="594360"/>
          </a:xfrm>
          <a:prstGeom prst="roundRect">
            <a:avLst/>
          </a:prstGeom>
          <a:solidFill>
            <a:srgbClr val="F4F8FD"/>
          </a:solidFill>
          <a:ln>
            <a:solidFill>
              <a:srgbClr val="2F6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F6C9F"/>
                </a:solidFill>
              </a:rPr>
              <a:t>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5212080"/>
            <a:ext cx="2286000" cy="594360"/>
          </a:xfrm>
          <a:prstGeom prst="roundRect">
            <a:avLst/>
          </a:prstGeom>
          <a:solidFill>
            <a:srgbClr val="F4F8FD"/>
          </a:solidFill>
          <a:ln>
            <a:solidFill>
              <a:srgbClr val="DA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DA373E"/>
                </a:solidFill>
              </a:rPr>
              <a:t>OpenShift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5212080"/>
            <a:ext cx="2286000" cy="594360"/>
          </a:xfrm>
          <a:prstGeom prst="roundRect">
            <a:avLst/>
          </a:prstGeom>
          <a:solidFill>
            <a:srgbClr val="F4F8FD"/>
          </a:solidFill>
          <a:ln>
            <a:solidFill>
              <a:srgbClr val="EA5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A5331"/>
                </a:solidFill>
              </a:rPr>
              <a:t>Git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87959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4F7B"/>
                </a:solidFill>
              </a:rPr>
              <a:t>AES 암호화 적용  |  시스템 URL·계정정보 등 민감 설정값 암호화 및 개인정보 마스킹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7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332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경험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43584" y="9601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업무 흐름과 데이터 처리에 대한 기초 경험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D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EXPERIENCE  /  DEVELOPER PROFILE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49224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645920"/>
            <a:ext cx="10625328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920240"/>
            <a:ext cx="54864" cy="338328"/>
          </a:xfrm>
          <a:prstGeom prst="rect">
            <a:avLst/>
          </a:prstGeom>
          <a:solidFill>
            <a:srgbClr val="1878C8"/>
          </a:solidFill>
          <a:ln w="12700">
            <a:solidFill>
              <a:srgbClr val="18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1901952"/>
            <a:ext cx="10030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ABAP · ALV Report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9848" y="2478024"/>
            <a:ext cx="1003096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SAP 모듈 운영 및 업무 프로세스 경험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ABAP 기반 ALV 리포트 프로그램 학습·구현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Open SQL을 활용한 테이블 조회·조인 및 CRUD 구현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처리 단위와 Commit / Rollback 개념 학습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경험을 통해 업무 데이터와 시스템 기능의 연결을 이해했습니다.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7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29184"/>
            <a:ext cx="10332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회사생활에서 중요하게 생각하는 자세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43584" y="9601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소통과 책임감을 바탕으로 맡은 일을 끝까지 수행하는 개발자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D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EXPERIENCE  /  DEVELOPER PROFILE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49224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5330952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901952"/>
            <a:ext cx="54864" cy="338328"/>
          </a:xfrm>
          <a:prstGeom prst="rect">
            <a:avLst/>
          </a:prstGeom>
          <a:solidFill>
            <a:srgbClr val="1878C8"/>
          </a:solidFill>
          <a:ln w="12700">
            <a:solidFill>
              <a:srgbClr val="18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883664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소통과 협업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459736"/>
            <a:ext cx="4736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고객·기획자·개발자와 요구사항을 구체화하고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상황과 이슈를 투명하게 공유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1344" y="1627632"/>
            <a:ext cx="5330952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901952"/>
            <a:ext cx="54864" cy="338328"/>
          </a:xfrm>
          <a:prstGeom prst="rect">
            <a:avLst/>
          </a:prstGeom>
          <a:solidFill>
            <a:srgbClr val="16B4BB"/>
          </a:solidFill>
          <a:ln w="12700">
            <a:solidFill>
              <a:srgbClr val="16B4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4536" y="1883664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책임감과 일정 관리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73952" y="2459736"/>
            <a:ext cx="4736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작은 단위로 나누어 우선순위를 정하고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기한과 품질을 함께 관리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3749040"/>
            <a:ext cx="5330952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4023360"/>
            <a:ext cx="54864" cy="338328"/>
          </a:xfrm>
          <a:prstGeom prst="rect">
            <a:avLst/>
          </a:prstGeom>
          <a:solidFill>
            <a:srgbClr val="16B4BB"/>
          </a:solidFill>
          <a:ln w="12700">
            <a:solidFill>
              <a:srgbClr val="16B4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005072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문제 해결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976" y="4581144"/>
            <a:ext cx="4736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재현하고 원인을 분석해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재발을 줄이는 개선 방향을 고민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344" y="3749040"/>
            <a:ext cx="5330952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023360"/>
            <a:ext cx="54864" cy="338328"/>
          </a:xfrm>
          <a:prstGeom prst="rect">
            <a:avLst/>
          </a:prstGeom>
          <a:solidFill>
            <a:srgbClr val="1878C8"/>
          </a:solidFill>
          <a:ln w="12700">
            <a:solidFill>
              <a:srgbClr val="187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4536" y="4005072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지속적인 학습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73952" y="4581144"/>
            <a:ext cx="4736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기술을 직접 실습하고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30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실무의 데이터 처리·운영 문제에 적용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0972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앞으로의 성장 방향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680" y="2167128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EAF4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시스템을 만들고,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EAF4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효율적으로 처리하며,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EAF4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신뢰를 쌓는 개발자가 되겠습니다.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86968" y="5971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 ×  DATA  ×  COLLABORATION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flat_corporate_presentation_slide_inf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기술과 경험으로 성장하는 개발자</dc:title>
  <dc:subject>개발자 기술 및 경험 소개</dc:subject>
  <dc:creator>OpenAI</dc:creator>
  <cp:lastModifiedBy>OpenAI</cp:lastModifiedBy>
  <cp:revision>1</cp:revision>
  <dcterms:created xsi:type="dcterms:W3CDTF">2026-10-11T13:40:47Z</dcterms:created>
  <dcterms:modified xsi:type="dcterms:W3CDTF">2026-10-11T13:40:47Z</dcterms:modified>
</cp:coreProperties>
</file>